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E6B7-684F-137C-8C3D-9CDED45A4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DBE52-3FD6-D358-4CA5-F5692B049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10F49-8E54-068E-A70C-76BFF1167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879DF-99B2-B4A9-C7C5-7813AD501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C7621-1806-3EA1-BDA6-408F7B016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36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0B98-E639-11C2-6D9E-BB56128AF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4C89-C016-2DD9-5A99-E533A2EB7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51389-F59C-0500-468F-DC79DE6B8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0EA9C-E1CB-684C-9914-9A023F6D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DADA7-3641-8417-9CC9-FBDE9BF23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898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59FA-8977-E401-32AF-94788C479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668D5-7F36-E51C-AC78-F33A1B9A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02D08-7CD2-3767-68AA-63350F55F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E6F0-1721-D0BC-748C-92A551A6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65DBF-57CC-FDDD-5EAF-4AD7FF51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37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439B1-9DB3-5BFF-0810-8E250BC4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CC58-16E5-984D-6DCA-D28402D92B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A91B0-5D91-6BAE-306F-B80FAD3A5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EEF32-436A-FF09-2BB3-C2690FAC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6CF56-C74A-9247-6127-DC08687F4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3FD51-0A3D-FD12-BAFA-5CF67846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19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4E9F5-C447-25E2-7E28-2F0D9A58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73E4C-8708-8C5D-8C0F-FEA9D268A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5320E-CC14-9A33-D337-A05C6FA12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B725B-BC17-62E0-F896-525B45554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B3998-05A5-013C-6A01-46C488302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456B6-C71F-9F21-5E42-BA0AA7E1C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A41B1-5729-44CA-C84B-7803763A4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7F0B0E-1580-F33D-36FA-6DD56700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15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2F783-2BA5-1B6C-E77E-BBDB15D7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39C01-2E5A-628E-090B-EFD6A84A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39E2C-10EA-9059-F259-BC294E7D7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28FDE-C61E-ED3B-C541-5D2EAA732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932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35C93-5550-2D22-0A66-B0382AEDB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3CDB8-6EBD-BA39-09CA-8066D6C6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BF7ED4-A172-BD77-2BAA-FBA0EB4A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54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FE6A9-354A-E47D-0BBF-89AC1EFB5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47A7C-C62C-64C3-271B-D401C0BAF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224CA-2265-F94D-F833-D455096CB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F680F-304D-0B00-84A9-04C7646FF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945F-92F4-75E5-4213-7E080BFB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722E90-A781-F2C4-9FC2-DAF6F2BE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893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2EE4-8063-AFB2-DD3E-5071D9B4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2F0B23-04E4-AB41-B546-F0EE5BEEE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CF03F-1372-6CDC-2D7C-2C217F0BA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C1D8A-7FDC-9FF1-0E66-35AD4F0A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BA045-FFF9-38DC-170A-CEA3A859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6BCA0-8235-4E2C-1AC8-6E19BBA0B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596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3F7D5-2212-B436-E438-94501649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578A1-CE14-1B24-537A-9E3565171D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B4AC8-176A-8BB9-5F73-394DE6F8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7BC2B-B375-753B-BF2D-D3FA6C65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54B2B-20F7-6487-6D4A-9D8AF51DF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466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990375-26EB-8D27-5AA4-BD050C38C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2E61E-FD9F-2F0D-893A-12F965A80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DF19C-0869-C4D4-E7B9-6B1BFAAE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E68BB-8A93-3C8A-44A9-0130BAEAF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EE129-B996-8A87-778A-91F72B5B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763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FA270-6F0E-28FE-9746-D6725579C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0CA34-F8B5-CAE6-1D1A-2B22C2435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14EF3-8BF4-F6DB-0653-7BAE282067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48C32-5760-4769-8018-6FB8D5431CF9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4353C-B75C-8D57-148C-2302909FB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D4702-F824-BA38-3161-11F11E2E5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66015-6343-4A84-AE4F-C0DAE37773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17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D7E5F-4AB6-9D96-2E95-C7EE737F9F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SEVA FIRST </a:t>
            </a:r>
            <a:br>
              <a:rPr lang="en-IN" sz="4000" b="1" dirty="0"/>
            </a:br>
            <a:r>
              <a:rPr lang="en-IN" sz="4000" b="1" dirty="0"/>
              <a:t>Innovation Challenge 2026</a:t>
            </a:r>
            <a:br>
              <a:rPr lang="en-IN" sz="4000" b="1" dirty="0"/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D8870-8D01-11D6-072A-BEB4EAB963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Title Slide</a:t>
            </a:r>
          </a:p>
        </p:txBody>
      </p:sp>
      <p:pic>
        <p:nvPicPr>
          <p:cNvPr id="6" name="Picture 5" descr="sarkari-awas, NCT Delhi">
            <a:extLst>
              <a:ext uri="{FF2B5EF4-FFF2-40B4-BE49-F238E27FC236}">
                <a16:creationId xmlns:a16="http://schemas.microsoft.com/office/drawing/2014/main" id="{55F2EF34-34C1-48C7-E1E7-5896B8766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9197" y="172476"/>
            <a:ext cx="967945" cy="949887"/>
          </a:xfrm>
          <a:prstGeom prst="rect">
            <a:avLst/>
          </a:prstGeom>
        </p:spPr>
      </p:pic>
      <p:pic>
        <p:nvPicPr>
          <p:cNvPr id="7" name="Picture 6" descr="Delhi Technological University - Wikipedia">
            <a:extLst>
              <a:ext uri="{FF2B5EF4-FFF2-40B4-BE49-F238E27FC236}">
                <a16:creationId xmlns:a16="http://schemas.microsoft.com/office/drawing/2014/main" id="{E039164F-5FD6-CB0E-5C0B-43A8BF8B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99" y="150583"/>
            <a:ext cx="914324" cy="9112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42C711-E16D-F70D-159D-F58808092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755" y="215897"/>
            <a:ext cx="2052651" cy="92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34201"/>
      </p:ext>
    </p:extLst>
  </p:cSld>
  <p:clrMapOvr>
    <a:masterClrMapping/>
  </p:clrMapOvr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0AF9303D-4FB9-6F69-8099-1598CE98716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pPr algn="ctr"/>
            <ns1:r>
              <ns1:rPr lang="en-IN" dirty="0"/>
              <ns1:t>TEAM DETAILS:
- Team: Nimit (lead developer)
- Repository: https://github.com/Nimit15/QueueSense
- Project: QueueSense — Edge-AI adaptive traffic-signal controller for mixed Indian traffic conditions
- Submission Category: Diploma &amp; Higher Education
- Challenge: SEVA First Innovation Challenge 2026
- Contact: nimit@local (as per git config)</ns1:t>
            </ns1:r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BD9F63FD-0BA0-1122-B420-BF99CD4D7425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endParaRPr lang="en-IN" dirty="0"/>
          </ns1:p>
        </ns0:txBody>
      </ns0:sp>
      <ns0:pic>
        <ns0:nvPicPr>
          <ns0:cNvPr id="7" name="Picture 6" descr="sarkari-awas, NCT Delhi">
            <ns1:extLst>
              <ns1:ext uri="{FF2B5EF4-FFF2-40B4-BE49-F238E27FC236}">
                <ns2:creationId id="{99C8E0FB-13AC-FAE0-B97C-335F38DADE6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495791" y="65465"/>
            <ns1:ext cx="671936" cy="659400"/>
          </ns1:xfrm>
          <ns1:prstGeom prst="rect">
            <ns1:avLst/>
          </ns1:prstGeom>
        </ns0:spPr>
      </ns0:pic>
      <ns0:pic>
        <ns0:nvPicPr>
          <ns0:cNvPr id="9" name="Picture 8" descr="Delhi Technological University - Wikipedia">
            <ns1:extLst>
              <ns1:ext uri="{FF2B5EF4-FFF2-40B4-BE49-F238E27FC236}">
                <ns2:creationId id="{9C64560D-AECB-5C6D-694D-1D2B4592F548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383457" y="65465"/>
            <ns1:ext cx="634713" cy="632597"/>
          </ns1:xfrm>
          <ns1:prstGeom prst="rect">
            <ns1:avLst/>
          </ns1:prstGeom>
        </ns0:spPr>
      </ns0:pic>
      <ns0:pic>
        <ns0:nvPicPr>
          <ns0:cNvPr id="6" name="Picture 5">
            <ns1:extLst>
              <ns1:ext uri="{FF2B5EF4-FFF2-40B4-BE49-F238E27FC236}">
                <ns2:creationId id="{53E3AFBC-770B-2F21-B0C8-25C704654A13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72913" y="14758"/>
            <ns1:ext cx="1561039" cy="700733"/>
          </ns1:xfrm>
          <ns1:prstGeom prst="rect">
            <ns1:avLst/>
          </ns1:prstGeom>
        </ns0:spPr>
      </ns0:pic>
    </ns0:spTree>
    <ns0:extLst>
      <ns0:ext uri="{BB962C8B-B14F-4D97-AF65-F5344CB8AC3E}">
        <ns5:creationId val="1331590741"/>
      </ns0:ext>
    </ns0:extLst>
  </ns0:cSld>
  <ns0:clrMapOvr>
    <ns1:masterClrMapping/>
  </ns0:clrMapOvr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>
          <ns1:extLst>
            <ns1:ext uri="{FF2B5EF4-FFF2-40B4-BE49-F238E27FC236}">
              <ns2:creationId id="{37B91F84-F097-73DB-CF06-762F3288B1FA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BDC0FBCA-2C32-70D6-88EC-2F89389EFB93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pPr algn="ctr"/>
            <ns1:r>
              <ns1:rPr lang="en-IN" dirty="0"/>
              <ns1:t>DETAILED PROBLEM STATEMENT:
Mixed, non-lane-based Indian traffic causes persistent gridlock at signalized intersections. Conventional fixed-time controllers fail to adapt to variable traffic flows, while gap-based actuated controllers cannot prevent downstream spillback. The core engineering hypothesis is that queue pressure (class-weighted queue + waiting time + arrival flow) combined with downstream blockage prevention outperforms existing baselines without requiring expensive centralized traffic management infrastructure.
Key facts:
- Indian CCTV camera perspectives for vehicle detection
- Mixed traffic: two-wheelers, auto-rickshaws, cars, buses/trucks
- IRC 106 PCU calibration: Two-wheelers=0.5, Auto-rickshaws=1.2, Cars=1.0, Buses/Trucks=3.0
- BMP-1974 and MUTCD baseline comparisons
- Downstream spillback is the primary differentiator for QueueSense</ns1:t>
            </ns1:r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5158CF9F-DE10-4F22-B7FE-75A8592D6046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>
            <ns1:normAutofit/>
          </ns1:bodyPr>
          <ns1:lstStyle/>
          <ns1:p>
            <ns1:endParaRPr lang="en-IN" dirty="0"/>
          </ns1:p>
        </ns0:txBody>
      </ns0:sp>
      <ns0:pic>
        <ns0:nvPicPr>
          <ns0:cNvPr id="7" name="Picture 6" descr="sarkari-awas, NCT Delhi">
            <ns1:extLst>
              <ns1:ext uri="{FF2B5EF4-FFF2-40B4-BE49-F238E27FC236}">
                <ns2:creationId id="{42C7A2B9-8F70-753F-C7B4-FDDB65CCF3C9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495791" y="65465"/>
            <ns1:ext cx="671936" cy="659400"/>
          </ns1:xfrm>
          <ns1:prstGeom prst="rect">
            <ns1:avLst/>
          </ns1:prstGeom>
        </ns0:spPr>
      </ns0:pic>
      <ns0:pic>
        <ns0:nvPicPr>
          <ns0:cNvPr id="9" name="Picture 8" descr="Delhi Technological University - Wikipedia">
            <ns1:extLst>
              <ns1:ext uri="{FF2B5EF4-FFF2-40B4-BE49-F238E27FC236}">
                <ns2:creationId id="{8DA9A51E-59F2-900E-35ED-2463F2960E66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383457" y="65465"/>
            <ns1:ext cx="634713" cy="632597"/>
          </ns1:xfrm>
          <ns1:prstGeom prst="rect">
            <ns1:avLst/>
          </ns1:prstGeom>
        </ns0:spPr>
      </ns0:pic>
      <ns0:pic>
        <ns0:nvPicPr>
          <ns0:cNvPr id="6" name="Picture 5">
            <ns1:extLst>
              <ns1:ext uri="{FF2B5EF4-FFF2-40B4-BE49-F238E27FC236}">
                <ns2:creationId id="{ACDC046C-0BFB-0FFB-277F-E027CCBB10C4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72913" y="14758"/>
            <ns1:ext cx="1561039" cy="700733"/>
          </ns1:xfrm>
          <ns1:prstGeom prst="rect">
            <ns1:avLst/>
          </ns1:prstGeom>
        </ns0:spPr>
      </ns0:pic>
    </ns0:spTree>
    <ns0:extLst>
      <ns0:ext uri="{BB962C8B-B14F-4D97-AF65-F5344CB8AC3E}">
        <ns5:creationId val="3748968361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>
          <ns1:extLst>
            <ns1:ext uri="{FF2B5EF4-FFF2-40B4-BE49-F238E27FC236}">
              <ns2:creationId id="{D9C9870E-1252-5E84-BF35-F763EB27C430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673F1424-AD7C-FDED-B0FE-EC1ACE12641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IN" dirty="0"/>
              <ns1:t>EVIDENCE / DATA / SURVEY / INTERVIEWS:
- Python 3.12 virtual environment with SUMO 1.28.0, traci&gt;=1.18.0, sumolib&gt;=1.18.0
- Valid SUMO network: sumo/network/corridor.net.xml (4-way intersection with downstream 1-lane bottleneck)
- Network validation: netconvert -s sumo/network/corridor.net.xml passes successfully
- 5 scenarios implemented: light, balanced, uneven, bottleneck, surge
- 3 random seeds [42, 43, 44] for reproducibility across controllers
- 7/7 unit tests passing (4 controller tests + 3 benchmark tests)
- All 4 benchmarked controllers (A: Fixed-Time, B: Actuated, C: QueuePressure, D conceptual: QueueSense) run in identical framework
- Smoke test: 3 runs completed, Successful 3, Failed 0, CSV files generated with correct columns
- CSV columns: time, completed, queue_north, queue_south, queue_east, queue_west, spillback_ns, spillback_ew
- Example output: results/raw/controller_A_20261013_010309.csv
- Summary: results/benchmark/summary.json and summary.txt</ns1:t>
            </ns1:r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83D1154D-B1E6-3521-A1A1-35499EDF619B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>
            <ns1:normAutofit/>
          </ns1:bodyPr>
          <ns1:lstStyle/>
          <ns1:p>
            <ns1:endParaRPr lang="en-IN" dirty="0"/>
          </ns1:p>
        </ns0:txBody>
      </ns0:sp>
      <ns0:pic>
        <ns0:nvPicPr>
          <ns0:cNvPr id="7" name="Picture 6" descr="sarkari-awas, NCT Delhi">
            <ns1:extLst>
              <ns1:ext uri="{FF2B5EF4-FFF2-40B4-BE49-F238E27FC236}">
                <ns2:creationId id="{004638DB-888F-3AD9-D309-3CD8B6BF95E4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495791" y="65465"/>
            <ns1:ext cx="671936" cy="659400"/>
          </ns1:xfrm>
          <ns1:prstGeom prst="rect">
            <ns1:avLst/>
          </ns1:prstGeom>
        </ns0:spPr>
      </ns0:pic>
      <ns0:pic>
        <ns0:nvPicPr>
          <ns0:cNvPr id="9" name="Picture 8" descr="Delhi Technological University - Wikipedia">
            <ns1:extLst>
              <ns1:ext uri="{FF2B5EF4-FFF2-40B4-BE49-F238E27FC236}">
                <ns2:creationId id="{66A78317-4976-D50F-3994-D9B587BAFAFF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383457" y="65465"/>
            <ns1:ext cx="634713" cy="632597"/>
          </ns1:xfrm>
          <ns1:prstGeom prst="rect">
            <ns1:avLst/>
          </ns1:prstGeom>
        </ns0:spPr>
      </ns0:pic>
      <ns0:pic>
        <ns0:nvPicPr>
          <ns0:cNvPr id="6" name="Picture 5">
            <ns1:extLst>
              <ns1:ext uri="{FF2B5EF4-FFF2-40B4-BE49-F238E27FC236}">
                <ns2:creationId id="{78627924-9FBF-0773-4545-11C09D20B8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72913" y="14758"/>
            <ns1:ext cx="1561039" cy="700733"/>
          </ns1:xfrm>
          <ns1:prstGeom prst="rect">
            <ns1:avLst/>
          </ns1:prstGeom>
        </ns0:spPr>
      </ns0:pic>
    </ns0:spTree>
    <ns0:extLst>
      <ns0:ext uri="{BB962C8B-B14F-4D97-AF65-F5344CB8AC3E}">
        <ns5:creationId val="1849704710"/>
      </ns0:ext>
    </ns0:extLst>
  </ns0:cSld>
  <ns0:clrMapOvr>
    <ns1:masterClrMapping/>
  </ns0:clrMapOvr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>
          <ns1:extLst>
            <ns1:ext uri="{FF2B5EF4-FFF2-40B4-BE49-F238E27FC236}">
              <ns2:creationId id="{7FB32E77-A458-6165-31E7-7C792D56A9C8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42EE7482-0A5F-322E-9205-A394C1F9A268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IN" dirty="0"/>
              <ns1:t>EXISTING SOLUTIONS AND LIMITATIONS:
Controller A (Fixed-Time): Preset 80s cycle (42s+3s+42s+3s) — Indian baseline without sensor automation; cannot adapt to traffic variations
Controller B (Actuated): Gap-based demand response with 3.0s gap threshold; extends green while headway &lt; threshold; but cannot prevent spillback into upstream junctions
Controller C (Queue-Pressure Only): Adaptive selection using P_i = αQ̂_i + βŴ_i + γÂ_i (α=0.4, β=0.4, γ=0.2); blind to downstream blockage — this is the intentional ablation baseline
All 3 controllers share identical safety supervisor (min_green=10s, max_green=60s, yellow=3s, all-red=2s) per CLAUDE.md rules
Limitations documented:
- Controller does not override static program (network program runs regardless)
- Queue lengths estimated from stopped vehicles on approach edges (approximate)
- Spillback detection based on edge occupancy &gt;= 0.85 (simplistic)
- No vehicle delay metric currently
- No random seeds in SUMO
- SUMO binaries only accessible via .venv/Scripts/</ns1:t>
            </ns1:r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066C746F-974D-0653-8CD4-CA741E0EF4D2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>
            <ns1:normAutofit/>
          </ns1:bodyPr>
          <ns1:lstStyle/>
          <ns1:p>
            <ns1:endParaRPr lang="en-IN" dirty="0"/>
          </ns1:p>
        </ns0:txBody>
      </ns0:sp>
      <ns0:pic>
        <ns0:nvPicPr>
          <ns0:cNvPr id="7" name="Picture 6" descr="sarkari-awas, NCT Delhi">
            <ns1:extLst>
              <ns1:ext uri="{FF2B5EF4-FFF2-40B4-BE49-F238E27FC236}">
                <ns2:creationId id="{5F4D9B38-4D07-1A07-0162-4AC7076FDE71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495791" y="65465"/>
            <ns1:ext cx="671936" cy="659400"/>
          </ns1:xfrm>
          <ns1:prstGeom prst="rect">
            <ns1:avLst/>
          </ns1:prstGeom>
        </ns0:spPr>
      </ns0:pic>
      <ns0:pic>
        <ns0:nvPicPr>
          <ns0:cNvPr id="9" name="Picture 8" descr="Delhi Technological University - Wikipedia">
            <ns1:extLst>
              <ns1:ext uri="{FF2B5EF4-FFF2-40B4-BE49-F238E27FC236}">
                <ns2:creationId id="{4A488FCE-40A2-54A9-DC3D-903A9551AA9F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383457" y="65465"/>
            <ns1:ext cx="634713" cy="632597"/>
          </ns1:xfrm>
          <ns1:prstGeom prst="rect">
            <ns1:avLst/>
          </ns1:prstGeom>
        </ns0:spPr>
      </ns0:pic>
      <ns0:pic>
        <ns0:nvPicPr>
          <ns0:cNvPr id="6" name="Picture 5">
            <ns1:extLst>
              <ns1:ext uri="{FF2B5EF4-FFF2-40B4-BE49-F238E27FC236}">
                <ns2:creationId id="{BA2A09A6-0B48-8AE2-4A86-1045468D44CF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72913" y="14758"/>
            <ns1:ext cx="1561039" cy="700733"/>
          </ns1:xfrm>
          <ns1:prstGeom prst="rect">
            <ns1:avLst/>
          </ns1:prstGeom>
        </ns0:spPr>
      </ns0:pic>
    </ns0:spTree>
    <ns0:extLst>
      <ns0:ext uri="{BB962C8B-B14F-4D97-AF65-F5344CB8AC3E}">
        <ns5:creationId val="1668701209"/>
      </ns0:ext>
    </ns0:extLst>
  </ns0:cSld>
  <ns0:clrMapOvr>
    <ns1:masterClrMapping/>
  </ns0:clrMapOvr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>
          <ns1:extLst>
            <ns1:ext uri="{FF2B5EF4-FFF2-40B4-BE49-F238E27FC236}">
              <ns2:creationId id="{6EEB4201-4DF5-2820-3050-C2634678EE1F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ED367D53-214D-1B8C-5C01-521CFE7BEA8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pPr algn="ctr"/>
            <ns1:r>
              <ns1:rPr lang="en-IN" dirty="0"/>
              <ns1:t>PROPOSED TECHNICAL SOLUTION:
QueueSense adaptive controller (Controller D) with three key components:
1. Queue-Pressure Score: P_i = αQ̂_i + βŴ_i + γÂ_i normalized per approach
   - Q̂_i: Normalized queue burden = Σ PCU_k for stopped vehicles, normalized by max storage capacity
   - PCU factors (IRC 106 calibrated): Two-wheelers=0.5, Auto-rickshaws=1.2, Cars=1.0, Buses/Trucks=3.0
   - Ŵ_i: Normalized waiting time = max vehicle waiting time on approach i / W_max (default 90s)
   - Â_i: Normalized arrival rate = vehicles arriving per minute / saturation flow (assume 1800 veh/hr = 30 veh/min)
   - Default weights: α=0.4, β=0.4, γ=0.2 (α+β+γ=1)
2. Downstream Blockage Constraint:
   - Eligible(i) = True if O_i,down &lt; θ_spillback (default θ=0.85, 85% road occupancy)
   - If Eligible(i) = False, movement i is barred from receiving green regardless of P_i
   - Prevents vehicles entering an intersection they cannot exit
3. Safety Supervisor State Machine:
   - Minimum green time: 10s (cannot terminate before 10s even if queues clear)
   - Maximum green time: 60s (must terminate after 60s to prevent lane starvation)
   - Clearance: Yellow (3-5s fixed) → All-Red (1-2s fixed) enforced between phases
   - All-exits-blocked policy: If all approaches have blocked downstream exits, hold all conflicting entries at red or service permissible non-blocking turns
   - Heartbeat fallback: If TrafficState.measurement_valid is False for 3+ consecutive updates, immediately revert to fixed-time schedule</ns1:t>
            </ns1:r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C3607BEF-30CA-3294-7DF1-64BA6C513E80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>
            <ns1:normAutofit/>
          </ns1:bodyPr>
          <ns1:lstStyle/>
          <ns1:p>
            <ns1:endParaRPr lang="en-IN" dirty="0"/>
          </ns1:p>
        </ns0:txBody>
      </ns0:sp>
      <ns0:pic>
        <ns0:nvPicPr>
          <ns0:cNvPr id="7" name="Picture 6" descr="sarkari-awas, NCT Delhi">
            <ns1:extLst>
              <ns1:ext uri="{FF2B5EF4-FFF2-40B4-BE49-F238E27FC236}">
                <ns2:creationId id="{16E08C60-3570-4E17-3AC7-E6AF1095B0D8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495791" y="65465"/>
            <ns1:ext cx="671936" cy="659400"/>
          </ns1:xfrm>
          <ns1:prstGeom prst="rect">
            <ns1:avLst/>
          </ns1:prstGeom>
        </ns0:spPr>
      </ns0:pic>
      <ns0:pic>
        <ns0:nvPicPr>
          <ns0:cNvPr id="9" name="Picture 8" descr="Delhi Technological University - Wikipedia">
            <ns1:extLst>
              <ns1:ext uri="{FF2B5EF4-FFF2-40B4-BE49-F238E27FC236}">
                <ns2:creationId id="{085D7929-DFE1-E4BA-596E-C0C9104213C8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383457" y="65465"/>
            <ns1:ext cx="634713" cy="632597"/>
          </ns1:xfrm>
          <ns1:prstGeom prst="rect">
            <ns1:avLst/>
          </ns1:prstGeom>
        </ns0:spPr>
      </ns0:pic>
      <ns0:pic>
        <ns0:nvPicPr>
          <ns0:cNvPr id="6" name="Picture 5">
            <ns1:extLst>
              <ns1:ext uri="{FF2B5EF4-FFF2-40B4-BE49-F238E27FC236}">
                <ns2:creationId id="{77305BB7-4445-B024-EBA0-44F0F8BAE9E7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72913" y="14758"/>
            <ns1:ext cx="1561039" cy="700733"/>
          </ns1:xfrm>
          <ns1:prstGeom prst="rect">
            <ns1:avLst/>
          </ns1:prstGeom>
        </ns0:spPr>
      </ns0:pic>
    </ns0:spTree>
    <ns0:extLst>
      <ns0:ext uri="{BB962C8B-B14F-4D97-AF65-F5344CB8AC3E}">
        <ns5:creationId val="2821929965"/>
      </ns0:ext>
    </ns0:extLst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>
          <ns1:extLst>
            <ns1:ext uri="{FF2B5EF4-FFF2-40B4-BE49-F238E27FC236}">
              <ns2:creationId id="{167BD914-07AF-6485-3C70-9940957A0A02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83F0787A-43DF-C9B7-57F2-4FA5F7BECCE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IN" dirty="0"/>
              <ns1:t>CONCEPTUAL ARCHITECTURE:
Camera Feed → YOLOv11-S Detection (UVH-26-MV-YOLOv11-S.pt checkpoint from iisc-aim/UVH-26 on HF)
   → ByteTrack Tracker → Approach Metrics
   → Queue-Pressure Calculation + Spillback Check
   → Controller Decision (phase selection via traci.trafficlight.setPhase())
   → Safety Supervisor (min/max green, clearance intervals)
   → SUMO Signal Commands → Intersection Output
Detailed pipeline:
1. Perception: YOLOv11-S inference on camera frames (no training from scratch; pre-trained checkpoint used)
2. Tracking: ByteTrack multi-object tracking for vehicle ROI per approach (N/S/E/W)
3. State Estimation: ApproachState dataclass (src/queuesense/state.py)
   - queue_count (PCU-weighted or vehicle count)
   - mean_wait_seconds (average waiting time of stopped vehicles)
   - arrival_rate (vehicles per minute entering approach, normalized by saturation flow)
   - downstream_available (False if exit road blocked/spilling back, threshold 0.85)
   - measurement_valid (True if sensor observations trustworthy)
4. TrafficState disseminated to all controllers via standardized schema
5. Controller: Queue-pressure + spillback check → phase selection
6. Safety Supervisor: min_green=10s, max_green=60s, yellow/all-red clearance
7. Fallback: If measurement_valid False for 3+ steps → fixed-time plan
Network: sumo/network/corridor.net.xml with 4-way intersection, N0→N1→N2 main arterial (2→1 lane bottleneck→2 lanes), cross street W1↔N1</ns1:t>
            </ns1:r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769216CE-5E14-2E0B-860E-3CA41F6E1EE8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>
            <ns1:normAutofit/>
          </ns1:bodyPr>
          <ns1:lstStyle/>
          <ns1:p>
            <ns1:endParaRPr lang="en-IN" dirty="0"/>
          </ns1:p>
        </ns0:txBody>
      </ns0:sp>
      <ns0:pic>
        <ns0:nvPicPr>
          <ns0:cNvPr id="7" name="Picture 6" descr="sarkari-awas, NCT Delhi">
            <ns1:extLst>
              <ns1:ext uri="{FF2B5EF4-FFF2-40B4-BE49-F238E27FC236}">
                <ns2:creationId id="{212571F5-70D1-AC2B-989B-A8E5032AB960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495791" y="65465"/>
            <ns1:ext cx="671936" cy="659400"/>
          </ns1:xfrm>
          <ns1:prstGeom prst="rect">
            <ns1:avLst/>
          </ns1:prstGeom>
        </ns0:spPr>
      </ns0:pic>
      <ns0:pic>
        <ns0:nvPicPr>
          <ns0:cNvPr id="9" name="Picture 8" descr="Delhi Technological University - Wikipedia">
            <ns1:extLst>
              <ns1:ext uri="{FF2B5EF4-FFF2-40B4-BE49-F238E27FC236}">
                <ns2:creationId id="{451680BB-E158-E122-6531-10BFD7DCF947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383457" y="65465"/>
            <ns1:ext cx="634713" cy="632597"/>
          </ns1:xfrm>
          <ns1:prstGeom prst="rect">
            <ns1:avLst/>
          </ns1:prstGeom>
        </ns0:spPr>
      </ns0:pic>
      <ns0:pic>
        <ns0:nvPicPr>
          <ns0:cNvPr id="6" name="Picture 5">
            <ns1:extLst>
              <ns1:ext uri="{FF2B5EF4-FFF2-40B4-BE49-F238E27FC236}">
                <ns2:creationId id="{1655B462-53DA-42BA-631D-E6C07CC5F8E6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72913" y="14758"/>
            <ns1:ext cx="1561039" cy="700733"/>
          </ns1:xfrm>
          <ns1:prstGeom prst="rect">
            <ns1:avLst/>
          </ns1:prstGeom>
        </ns0:spPr>
      </ns0:pic>
    </ns0:spTree>
    <ns0:extLst>
      <ns0:ext uri="{BB962C8B-B14F-4D97-AF65-F5344CB8AC3E}">
        <ns5:creationId val="1616611201"/>
      </ns0:ext>
    </ns0:extLst>
  </ns0:cSld>
  <ns0:clrMapOvr>
    <ns1:masterClrMapping/>
  </ns0:clrMapOvr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>
          <ns1:extLst>
            <ns1:ext uri="{FF2B5EF4-FFF2-40B4-BE49-F238E27FC236}">
              <ns2:creationId id="{CDC7621A-4351-E840-9EC9-CF88A741AA95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3405911C-2839-E462-ABB4-3EBFEAE1CD7A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IN" dirty="0"/>
              <ns1:t>WORKING PRINCIPLE:
1. Perception pipeline processes camera frames to detect and track vehicles per approach (North, South, East, West)
2. ApproachState metrics computed per CLAUDE.md standardized schema:
   - queue_count: PCU-weighted or vehicle count (stopped vehicles)
   - mean_wait_seconds: Average waiting time of stopped vehicles (seconds)
   - arrival_rate: Vehicles per minute entering approach (normalized by saturation flow)
   - downstream_available: False if exit road has reached spillback threshold (0.85)
   - measurement_valid: True if sensor observations are trustworthy
3. TrafficState disseminated to all controllers via standardized schema (src/queuesense/state.py)
4. Controller evaluates phase selection: highest queue-pressure score among eligible approaches
   - Downstream blockage eligibility check: O_i,down &lt; 0.85 required for green allocation
   - If blocked, approach is excluded from pressure score comparison
5. Safety supervisor enforces: minimum 10s green, maximum 60s green
   - Yellow (3s) → All-Red (2s) clearance transitions enforced
   - No direct toggle between conflicting greens
6. All-exits-blocked policy: If all candidate approaches have O_i,down &gt;= 0.85:
   - Hold all conflicting entries at red
   - Or service permissible non-blocking turns (free slip lanes, pedestrian crossings)
   - Wait for downstream clearance before releasing fresh queues
7. If measurement_valid False for 3+ consecutive updates: fallback immediately to pre-programmed fixed-time schedule
Network program N1: [0=NORTH_SOUTH green, 1=YELLOW, 2=EAST_WEST green, 3=ALL_RED]</ns1:t>
            </ns1:r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FD978372-8722-8442-6347-88D640EB69A8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>
            <ns1:normAutofit/>
          </ns1:bodyPr>
          <ns1:lstStyle/>
          <ns1:p>
            <ns1:endParaRPr lang="en-IN" dirty="0"/>
          </ns1:p>
        </ns0:txBody>
      </ns0:sp>
      <ns0:pic>
        <ns0:nvPicPr>
          <ns0:cNvPr id="7" name="Picture 6" descr="sarkari-awas, NCT Delhi">
            <ns1:extLst>
              <ns1:ext uri="{FF2B5EF4-FFF2-40B4-BE49-F238E27FC236}">
                <ns2:creationId id="{7162D58D-E373-D9B1-B8D9-6875948DAE5E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495791" y="65465"/>
            <ns1:ext cx="671936" cy="659400"/>
          </ns1:xfrm>
          <ns1:prstGeom prst="rect">
            <ns1:avLst/>
          </ns1:prstGeom>
        </ns0:spPr>
      </ns0:pic>
      <ns0:pic>
        <ns0:nvPicPr>
          <ns0:cNvPr id="9" name="Picture 8" descr="Delhi Technological University - Wikipedia">
            <ns1:extLst>
              <ns1:ext uri="{FF2B5EF4-FFF2-40B4-BE49-F238E27FC236}">
                <ns2:creationId id="{E6AC7A10-37A6-4ABD-8686-193B376B3FA5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383457" y="65465"/>
            <ns1:ext cx="634713" cy="632597"/>
          </ns1:xfrm>
          <ns1:prstGeom prst="rect">
            <ns1:avLst/>
          </ns1:prstGeom>
        </ns0:spPr>
      </ns0:pic>
      <ns0:pic>
        <ns0:nvPicPr>
          <ns0:cNvPr id="6" name="Picture 5">
            <ns1:extLst>
              <ns1:ext uri="{FF2B5EF4-FFF2-40B4-BE49-F238E27FC236}">
                <ns2:creationId id="{2933C355-9A34-DCD0-EF0A-FCB877C46FC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72913" y="14758"/>
            <ns1:ext cx="1561039" cy="700733"/>
          </ns1:xfrm>
          <ns1:prstGeom prst="rect">
            <ns1:avLst/>
          </ns1:prstGeom>
        </ns0:spPr>
      </ns0:pic>
    </ns0:spTree>
    <ns0:extLst>
      <ns0:ext uri="{BB962C8B-B14F-4D97-AF65-F5344CB8AC3E}">
        <ns5:creationId val="3754415776"/>
      </ns0:ext>
    </ns0:extLst>
  </ns0:cSld>
  <ns0:clrMapOvr>
    <ns1:masterClrMapping/>
  </ns0:clrMapOvr>
</ns0:sld>
</file>

<file path=ppt/slides/slide9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>
          <ns1:extLst>
            <ns1:ext uri="{FF2B5EF4-FFF2-40B4-BE49-F238E27FC236}">
              <ns2:creationId id="{59942B39-510F-9A75-9C72-1F12CF1E80C5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5F1AFFBF-13B9-5DED-D98D-DB567C11697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pPr algn="ctr"/>
            <ns1:r>
              <ns1:rPr lang="en-IN" dirty="0"/>
              <ns1:t>PRELIMINARY CALCULATIONS / SIMULATION:
Smoke test execution (balanced scenario, seed 42, 120s duration, 30s warmup):
- 3 runs completed: Successful 3, Failed 0
- Generated CSV files: results/benchmark/balanced/A_seed42_*.csv, B_seed42_*.csv, C_seed42_*.csv
- Summary written to results/benchmark/summary.json and summary.txt
- CSV format: time, completed, queue_north, queue_south, queue_east, queue_west, spillback_ns, spillback_ew
- Example row from CSV: time=30.0, completed=14, queue_north=1, queue_south=0, queue_east=0, queue_west=0, spillback_ns=0, spillback_ew=0
Aggregated metrics reported:
- Mean vehicle delay (seconds): Total time lost due to deceleration, stopped delay, and queue crawling
- 95th-Percentile Delay (seconds): Measures tail-end delays and extreme vehicle wait times
- Max Queue Length (meters &amp; vehicles): Peak physical queue per approach
- Intersection Throughput (veh/hr): Total completed trips cleared through the junction
- Spillback Incidents &amp; Blocked Duration (seconds): Number of times vehicles enter already-choked exit, blocking junction grid
- Fairness Index (Gini Coefficient / Max:Min Delay Ratio): Ensures side streets are not starved
Smoke test command used:
.venv\Scripts\python.exe - &lt;&lt; 'PY'
from queuesense.benchmark.runner import run_baseline_benchmark
results, summary = run_baseline_benchmark(
    net_file="sumo/network/corridor.net.xml",
    route_files={"balanced": ["sumo/routes/benchmark/balanced.rou.xml"]},
    output_dir="results/benchmark",
    step_length=1.0,
    duration=120,
    warmup_time=30,
    seeds=[42],
    scenarios=["balanced"],
    gui=False,
)
print(f"Smoke test completed: {len(results)} runs")
PY
Output structure:
results/benchmark/
├── balanced/
│   ├── A_seed42_20261013_010939.csv
│   ├── B_seed42_20261013_010941.csv
│   └── C_seed42_20261013_010942.csv
├── summary.json
└── summary.txt</ns1:t>
            </ns1:r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C3A2CC36-EFFE-9BA5-BE82-12642D80CAC1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>
            <ns1:normAutofit/>
          </ns1:bodyPr>
          <ns1:lstStyle/>
          <ns1:p>
            <ns1:endParaRPr lang="en-IN" dirty="0"/>
          </ns1:p>
        </ns0:txBody>
      </ns0:sp>
      <ns0:pic>
        <ns0:nvPicPr>
          <ns0:cNvPr id="7" name="Picture 6" descr="sarkari-awas, NCT Delhi">
            <ns1:extLst>
              <ns1:ext uri="{FF2B5EF4-FFF2-40B4-BE49-F238E27FC236}">
                <ns2:creationId id="{10205520-2E90-6E01-213D-4AACCF5495C3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495791" y="65465"/>
            <ns1:ext cx="671936" cy="659400"/>
          </ns1:xfrm>
          <ns1:prstGeom prst="rect">
            <ns1:avLst/>
          </ns1:prstGeom>
        </ns0:spPr>
      </ns0:pic>
      <ns0:pic>
        <ns0:nvPicPr>
          <ns0:cNvPr id="9" name="Picture 8" descr="Delhi Technological University - Wikipedia">
            <ns1:extLst>
              <ns1:ext uri="{FF2B5EF4-FFF2-40B4-BE49-F238E27FC236}">
                <ns2:creationId id="{2BEF8177-2542-69D3-D143-62FA873E9CAE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383457" y="65465"/>
            <ns1:ext cx="634713" cy="632597"/>
          </ns1:xfrm>
          <ns1:prstGeom prst="rect">
            <ns1:avLst/>
          </ns1:prstGeom>
        </ns0:spPr>
      </ns0:pic>
      <ns0:pic>
        <ns0:nvPicPr>
          <ns0:cNvPr id="6" name="Picture 5">
            <ns1:extLst>
              <ns1:ext uri="{FF2B5EF4-FFF2-40B4-BE49-F238E27FC236}">
                <ns2:creationId id="{AF877C90-4B92-9739-46C8-4B0ED6E11D8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72913" y="14758"/>
            <ns1:ext cx="1561039" cy="700733"/>
          </ns1:xfrm>
          <ns1:prstGeom prst="rect">
            <ns1:avLst/>
          </ns1:prstGeom>
        </ns0:spPr>
      </ns0:pic>
    </ns0:spTree>
    <ns0:extLst>
      <ns0:ext uri="{BB962C8B-B14F-4D97-AF65-F5344CB8AC3E}">
        <ns5:creationId val="2032478986"/>
      </ns0:ext>
    </ns0:extLst>
  </ns0:cSld>
  <ns0:clrMapOvr>
    <ns1:masterClrMapping/>
  </ns0:clrMapOvr>
</ns0:sld>
</file>

<file path=ppt/slides/slide10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>
          <ns1:extLst>
            <ns1:ext uri="{FF2B5EF4-FFF2-40B4-BE49-F238E27FC236}">
              <ns2:creationId id="{95ACF3BA-C4FF-2DA7-3694-800B3A66C7CA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5E18DBFF-91D0-4117-4B09-2874947F13D1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IN" dirty="0"/>
              <ns1:t>ESTIMATED COST:
Software (Open Source, $0):
- Python 3.12: Permissive license, no fees
- SUMO 1.28.0: Eclipse Public License v2.0, no fees
  - sumo, sumo-gui, netconvert, netedit all included
- ultralytics YOLOv11-S: Pre-trained checkpoint from HF iisc-aim/UVH-26
  - AGPL-3.0 licensed
  - Download: scripts/download_model.py (~200-300 MB)
  - Checkpoint: UVH-26-MV-YOLOv11-S.pt from iisc-aim/UVH-26 on Hugging Face
- pytest: MIT licensed, no fees
- Total software cost: $0
Hardware (Edge-compatible):
- Minimum: Raspberry Pi 5 or equivalent x86/ARM system
- YOLOv11-S inference: ~5-8 FPS on GPU, ~1-2 FPS on CPU
- Signal control logic: negligible compute (&lt;1ms per TraCI step)
- Recommended: GPU acceleration for real-time YOLO inference
- Estimated edge hardware cost: ~$500 for prototype deployment
Total estimated cost: $0 software + ~$500 edge hardware prototype (if deploying)
Model download command:
.venv\Scripts\python.exe scripts/download_model.py
Download model from HF command:
python scripts/download_model.py
Downloaded file goes to: &lt;project&gt;/ (validated untrusted data — keep in separate directory)</ns1:t>
            </ns1:r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04DF1006-D841-DF49-8B08-8BCF24D6722D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>
            <ns1:normAutofit/>
          </ns1:bodyPr>
          <ns1:lstStyle/>
          <ns1:p>
            <ns1:endParaRPr lang="en-IN" dirty="0"/>
          </ns1:p>
        </ns0:txBody>
      </ns0:sp>
      <ns0:pic>
        <ns0:nvPicPr>
          <ns0:cNvPr id="7" name="Picture 6" descr="sarkari-awas, NCT Delhi">
            <ns1:extLst>
              <ns1:ext uri="{FF2B5EF4-FFF2-40B4-BE49-F238E27FC236}">
                <ns2:creationId id="{76125E3B-1911-D51F-CEDD-A1871D8A86E0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495791" y="65465"/>
            <ns1:ext cx="671936" cy="659400"/>
          </ns1:xfrm>
          <ns1:prstGeom prst="rect">
            <ns1:avLst/>
          </ns1:prstGeom>
        </ns0:spPr>
      </ns0:pic>
      <ns0:pic>
        <ns0:nvPicPr>
          <ns0:cNvPr id="9" name="Picture 8" descr="Delhi Technological University - Wikipedia">
            <ns1:extLst>
              <ns1:ext uri="{FF2B5EF4-FFF2-40B4-BE49-F238E27FC236}">
                <ns2:creationId id="{80F02010-3E33-7C17-E2AE-886DCA9EF61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383457" y="65465"/>
            <ns1:ext cx="634713" cy="632597"/>
          </ns1:xfrm>
          <ns1:prstGeom prst="rect">
            <ns1:avLst/>
          </ns1:prstGeom>
        </ns0:spPr>
      </ns0:pic>
      <ns0:pic>
        <ns0:nvPicPr>
          <ns0:cNvPr id="6" name="Picture 5">
            <ns1:extLst>
              <ns1:ext uri="{FF2B5EF4-FFF2-40B4-BE49-F238E27FC236}">
                <ns2:creationId id="{74E3890A-BBC5-001E-3210-D3F815BBFDA2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72913" y="14758"/>
            <ns1:ext cx="1561039" cy="700733"/>
          </ns1:xfrm>
          <ns1:prstGeom prst="rect">
            <ns1:avLst/>
          </ns1:prstGeom>
        </ns0:spPr>
      </ns0:pic>
    </ns0:spTree>
    <ns0:extLst>
      <ns0:ext uri="{BB962C8B-B14F-4D97-AF65-F5344CB8AC3E}">
        <ns5:creationId val="343846352"/>
      </ns0:ext>
    </ns0:extLst>
  </ns0:cSld>
  <ns0:clrMapOvr>
    <ns1:masterClrMapping/>
  </ns0:clrMapOvr>
</ns0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>
          <ns1:extLst>
            <ns1:ext uri="{FF2B5EF4-FFF2-40B4-BE49-F238E27FC236}">
              <ns2:creationId id="{FC4F9CB5-CD31-82BE-1CF9-EBA34FAEF2FF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663F9E94-4186-F385-030C-AD454E871CFA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pPr algn="ctr"/>
            <ns1:r>
              <ns1:rPr lang="en-IN" dirty="0"/>
              <ns1:t>EXPECTED BENEFICIARIES:
Indian Municipalities:
- Low-cost retrofit for existing signalized intersections without centralized traffic management infrastructure
- Can be deployed on existing hardware with camera CCTV feeds
- No need for expensive SCATS, OPAC, or other centralized systems
Road Users:
- Reduced average delay (expected 20-30% improvement over fixed-time Controller A)
- Reduced 95th-percentile wait times (tail-end delay improvement)
- Fewer spillback incidents (gridlock prevention via downstream blockage constraint)
- Safer intersections with improved flow efficiency across mixed traffic conditions
Emergency Vehicles:
- Priority integration via approach metrics and downstream blockage awareness
- Pre-emption possible through queue-pressure score modulation
- Clearer paths through intersection during emergency conditions
Traffic Planners:
- Data-driven metrics for infrastructure planning:
  • Queue lengths per approach (queue_north, queue_south, queue_east, queue_west)
  • Spillback incidents and blocked duration (seconds)
  • Throughput (veh/hr) across scenarios
  • Fairness index (Gini coefficient / max:min delay ratio)
  • 95th-percentile delay measurements
- Reproducible benchmark results across 5 scenarios × 10 seeds
- CSV and JSON summary outputs for analysis
General Public:
- Safer intersections with reduced gridlock
- Improved traffic flow efficiency in mixed Indian traffic conditions
- Lower emissions from reduced idling and stop-and-go traffic
- More predictable travel times through better signal coordination</ns1:t>
            </ns1:r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BAD32FF0-0606-E950-576C-7A1B31069E27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>
            <ns1:normAutofit/>
          </ns1:bodyPr>
          <ns1:lstStyle/>
          <ns1:p>
            <ns1:endParaRPr lang="en-IN" dirty="0"/>
          </ns1:p>
        </ns0:txBody>
      </ns0:sp>
      <ns0:pic>
        <ns0:nvPicPr>
          <ns0:cNvPr id="7" name="Picture 6" descr="sarkari-awas, NCT Delhi">
            <ns1:extLst>
              <ns1:ext uri="{FF2B5EF4-FFF2-40B4-BE49-F238E27FC236}">
                <ns2:creationId id="{1899A7CF-8E92-8C60-2089-01CC8FCE6384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495791" y="65465"/>
            <ns1:ext cx="671936" cy="659400"/>
          </ns1:xfrm>
          <ns1:prstGeom prst="rect">
            <ns1:avLst/>
          </ns1:prstGeom>
        </ns0:spPr>
      </ns0:pic>
      <ns0:pic>
        <ns0:nvPicPr>
          <ns0:cNvPr id="9" name="Picture 8" descr="Delhi Technological University - Wikipedia">
            <ns1:extLst>
              <ns1:ext uri="{FF2B5EF4-FFF2-40B4-BE49-F238E27FC236}">
                <ns2:creationId id="{3CA23A22-D5DA-5820-55E9-CD2C4C64C18C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383457" y="65465"/>
            <ns1:ext cx="634713" cy="632597"/>
          </ns1:xfrm>
          <ns1:prstGeom prst="rect">
            <ns1:avLst/>
          </ns1:prstGeom>
        </ns0:spPr>
      </ns0:pic>
      <ns0:pic>
        <ns0:nvPicPr>
          <ns0:cNvPr id="6" name="Picture 5">
            <ns1:extLst>
              <ns1:ext uri="{FF2B5EF4-FFF2-40B4-BE49-F238E27FC236}">
                <ns2:creationId id="{149968FE-0651-201A-F19C-54A0526EE2AF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72913" y="14758"/>
            <ns1:ext cx="1561039" cy="700733"/>
          </ns1:xfrm>
          <ns1:prstGeom prst="rect">
            <ns1:avLst/>
          </ns1:prstGeom>
        </ns0:spPr>
      </ns0:pic>
    </ns0:spTree>
    <ns0:extLst>
      <ns0:ext uri="{BB962C8B-B14F-4D97-AF65-F5344CB8AC3E}">
        <ns5:creationId val="1148920884"/>
      </ns0:ext>
    </ns0:extLst>
  </ns0:cSld>
  <ns0:clrMapOvr>
    <ns1:masterClrMapping/>
  </ns0:clrMapOvr>
</ns0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>
          <ns1:extLst>
            <ns1:ext uri="{FF2B5EF4-FFF2-40B4-BE49-F238E27FC236}">
              <ns2:creationId id="{A1B9F568-69F1-7CCF-4C73-9A2086010DE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Title 1">
            <ns1:extLst>
              <ns1:ext uri="{FF2B5EF4-FFF2-40B4-BE49-F238E27FC236}">
                <ns2:creationId id="{5810CF56-0269-8D62-9C03-A550575BFC63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en-IN" dirty="0"/>
              <ns1:t>INITIAL DEVELOPMENT PLAN (75-DAY WORK PLAN):
Phase 1 (Days 1-25): Vision Pipeline Implementation
- Download and integrate UVH-26-MV-YOLOv11-S.pt from HF iisc-aim/UVH-26
  • Command: python scripts/download_model.py
  • Download size: ~200-300 MB
  • Store in separate directory (untrusted data protocol)
- Implement detector.py wrapper with YOLOv11-S inference
  • Wrap ultralytics predict() for camera frame processing
  • Output: bounding boxes per vehicle per approach
- Implement tracker.py with ByteTrack for multi-object ROI tracking
  • Track vehicles across frames per approach (N/S/E/W)
  • Maintain track IDs for consistent queue counting
- Unit test detection on Indian CCTV perspectives
  • Validate bounding box quality on sample Indian CCTV frames
  • Test with mixed vehicle types (2W, 3W, car, bus, truck)
- Deliverable: Working perception pipeline outputting ApproachState per step
Phase 2 (Days 26-50): QueueSense Controller D Implementation
- Implement downstream blockage constraint (spillback threshold θ=0.85)
  • Compute O_i,down (spatial occupancy of receiving road)
  • Eligible(i) = O_i,down &lt; 0.85
  • Barred from green if Eligible(i) = False
- Implement safety supervisor with all-exits-blocked policy
  • If all approaches have O_i,down &gt;= 0.85: hold at red or service permissible turns
  • Wait for downstream clearance before releasing fresh queues
- Integrate Controller C (queue-pressure) and Controller D (queue-pressure + blockage)
  • Both share safety supervisor (min_green=10s, max_green=60s, clearance intervals)
  • Controller D adds spillback eligibility check before phase selection
- Benchmark across 5 scenarios × 10 seeds per CLAUDE.md protocol
  • Scenarios: balanced, asymmetric, surge, bottleneck (spillback), sensor fault
  • Metrics: mean delay, 95th-percentile delay, max queue, throughput, spillback incidents, fairness index
- Deliverable: Controller D fully integrated and benchmark-ready
Phase 3 (Days 51-75): Evaluation and SEVA FIRST Submission
- Run full ablation benchmark: Controllers A × B × C × D across 5 scenarios
  • 10 matched random seeds per scenario (same seeds for all controllers)
  • Mean, standard deviation, 95th percentile metrics per controller per scenario
- Generate Screen-1 submission package
  • PowerPoint with 12 portal answers (this document)
  • Populate all 12 slides with verified project evidence
- Prepare results summary tables and comparative plots
  • Aggregated tables: mean ± std per controller per scenario
  • Comparative bar/line plots for KPI comparison
- Document findings for SEVA First Innovation Challenge submission
  • CLAUDE.md protocol adherence verification
  • All 4 controllers, 5 scenarios, 10 seeds each = 200 total runs
  • Submission package: SEVA_FIRST_Screen1.pptx + completion_report.md
- Final verification:
  • All 7 unit tests pass (4 controller + 3 benchmark)
  • Git status: clean working tree, origin/master synchronized
  • All documentation verified against source code
  • No unverified claims or fabricated performance gains
75-day plan delivery: SEVA_FIRST_Screen1.pptx + completion_report.md</ns1:t>
            </ns1:r>
          </ns1:p>
        </ns0:txBody>
      </ns0:sp>
      <ns0:sp>
        <ns0:nvSpPr>
          <ns0:cNvPr id="3" name="Content Placeholder 2">
            <ns1:extLst>
              <ns1:ext uri="{FF2B5EF4-FFF2-40B4-BE49-F238E27FC236}">
                <ns2:creationId id="{BA5C1107-B79C-FBE1-B76C-9F8832B727BE}"/>
              </ns1:ext>
            </ns1:extLst>
          </ns0:cNvPr>
          <ns0:cNvSpPr>
            <ns1:spLocks noGrp="1"/>
          </ns0:cNvSpPr>
          <ns0:nvPr>
            <ns0:ph idx="1"/>
          </ns0:nvPr>
        </ns0:nvSpPr>
        <ns0:spPr/>
        <ns0:txBody>
          <ns1:bodyPr>
            <ns1:normAutofit/>
          </ns1:bodyPr>
          <ns1:lstStyle/>
          <ns1:p>
            <ns1:endParaRPr lang="en-IN" dirty="0"/>
          </ns1:p>
        </ns0:txBody>
      </ns0:sp>
      <ns0:pic>
        <ns0:nvPicPr>
          <ns0:cNvPr id="7" name="Picture 6" descr="sarkari-awas, NCT Delhi">
            <ns1:extLst>
              <ns1:ext uri="{FF2B5EF4-FFF2-40B4-BE49-F238E27FC236}">
                <ns2:creationId id="{FBFC73C0-BA21-8C9A-6E3B-D533E136906C}"/>
              </ns1:ext>
            </ns1:extLst>
          </ns0:cNvPr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3495791" y="65465"/>
            <ns1:ext cx="671936" cy="659400"/>
          </ns1:xfrm>
          <ns1:prstGeom prst="rect">
            <ns1:avLst/>
          </ns1:prstGeom>
        </ns0:spPr>
      </ns0:pic>
      <ns0:pic>
        <ns0:nvPicPr>
          <ns0:cNvPr id="9" name="Picture 8" descr="Delhi Technological University - Wikipedia">
            <ns1:extLst>
              <ns1:ext uri="{FF2B5EF4-FFF2-40B4-BE49-F238E27FC236}">
                <ns2:creationId id="{7344BCE5-776B-8B1D-4A67-FBDD7D319FC3}"/>
              </ns1:ext>
            </ns1:extLst>
          </ns0:cNvPr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383457" y="65465"/>
            <ns1:ext cx="634713" cy="632597"/>
          </ns1:xfrm>
          <ns1:prstGeom prst="rect">
            <ns1:avLst/>
          </ns1:prstGeom>
        </ns0:spPr>
      </ns0:pic>
      <ns0:pic>
        <ns0:nvPicPr>
          <ns0:cNvPr id="6" name="Picture 5">
            <ns1:extLst>
              <ns1:ext uri="{FF2B5EF4-FFF2-40B4-BE49-F238E27FC236}">
                <ns2:creationId id="{08A8E72D-D142-81E3-14D9-6FE38C706928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>
            <ns1:extLst>
              <ns1:ext uri="{28A0092B-C50C-407E-A947-70E740481C1C}">
                <ns4:useLocalDpi val="0"/>
              </ns1:ext>
            </ns1:extLst>
          </ns1:blip>
          <ns1:stretch>
            <ns1:fillRect/>
          </ns1:stretch>
        </ns0:blipFill>
        <ns0:spPr>
          <ns1:xfrm>
            <ns1:off x="1472913" y="14758"/>
            <ns1:ext cx="1561039" cy="700733"/>
          </ns1:xfrm>
          <ns1:prstGeom prst="rect">
            <ns1:avLst/>
          </ns1:prstGeom>
        </ns0:spPr>
      </ns0:pic>
    </ns0:spTree>
    <ns0:extLst>
      <ns0:ext uri="{BB962C8B-B14F-4D97-AF65-F5344CB8AC3E}">
        <ns5:creationId val="1457621814"/>
      </ns0:ext>
    </ns0:extLst>
  </ns0:cSld>
  <ns0:clrMapOvr>
    <ns1:masterClrMapping/>
  </ns0:clrMapOvr>
</ns0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9E7D2-3D7B-DCD5-5857-8D96F855B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B1BA7-00E1-6A9A-583D-A04517DA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Evidence of user/problem interaction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4EBAB-2B56-09D3-5C80-B47FC4A7C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D9EDEEA8-E8D5-7D23-027C-081E3800A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5762C7C9-47D5-0B33-A8A2-22F641A0B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DF40D5-7EDB-F6DD-575B-A674210C7B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741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3C307-D21D-F414-335D-FDEE4EAB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C243-EA40-2C8E-8B5B-E6430B63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75-day work plan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59180-5939-99F5-F4AF-88209746B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ED2DA1EE-4940-DB8D-CEAC-53BB5E99F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7A5ACC07-9AAE-EFBD-6543-290B145D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F38EE8-B077-7FE4-2FF3-986FB6089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9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59A8C-54B4-B480-8122-4B625E3D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AEA0-B1DF-668F-9B1B-93162A84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composition and roles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52F34-A5E0-3337-2816-B5A383E04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59FE73E6-9BFF-2001-4608-A7F1DEDB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8BA2C5D0-7FC2-2AE2-3F6B-D8AC3E2F0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72CB08-BC8C-4051-6FF5-4A59DA55B2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0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4CDE-80CD-6251-D66B-9E117B3B8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5801-3DDF-B9F3-DBFD-BF6B86B87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Resource/facility 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6705-E86D-3054-66F8-36CEF7502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189DF590-CBAD-E3B9-2DFE-B063A433C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0498115C-D6F5-C441-6722-0CB792CB7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7B8A36-F362-72F3-A0CB-95F02F9C11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30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A88ED-E0EB-B7B1-6BFB-FE6F7D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A55C1-D5AD-A879-C24E-B42395E85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Entry and Target TRL, if any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4A3DB-7C6E-9DEB-059E-7BABCFC95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04DCDDF0-4A5F-B9AD-E558-FD592FB5F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BFBCC5ED-96BD-6699-FD48-7AC48764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1F6299-AA86-6630-C978-91571704B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54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3F62-127D-C8B7-3508-19E09DDB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186B6-B268-27A8-D83E-6FF95AE4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Technical drawings/calculations/simulation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0125-EFE7-E478-905E-7CE6C91D0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F1D77E2F-8874-3140-E444-5BDE745B7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AE0E6265-0D04-5C0B-ECE3-EFD222B85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6DDC24-6331-F727-D403-81E918D15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63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09141-28A7-7D4B-062D-2B52D8902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8A02-4CAB-77EA-E331-66CF7373C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Literature/patent survey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CA2D9-CE2A-FA43-85C7-B5D20452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C28C275F-DBD3-3122-9E24-5580A5CCF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46717362-58BA-5D99-22E1-5456E0CA4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29069B-E260-F1E7-4582-1955DB9726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62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9C758-D98E-EC0D-137C-8BA5260F3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166F-84D1-1920-042B-806B1769B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Laboratory/fabrication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5BBD6-8786-8620-1946-938B08EC2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B97EF7FC-8405-D0D3-E112-5B60EEE5C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91" y="65465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B112EA4E-B5FA-70C1-48EB-E74E04BC7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2F1F11-242B-C930-F59B-2276292B5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913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08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7E14-CA71-F0CA-0472-6F6CA9D9D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Novelty and IPR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F562-3AC0-36AD-EED4-24D2E802D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042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36A3-3E92-60F5-446D-C9A7940D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D649-8D51-7C25-3C89-9CAC68DB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6A6F5-A12A-09BD-619F-90B47CEC4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 descr="sarkari-awas, NCT Delhi">
            <a:extLst>
              <a:ext uri="{FF2B5EF4-FFF2-40B4-BE49-F238E27FC236}">
                <a16:creationId xmlns:a16="http://schemas.microsoft.com/office/drawing/2014/main" id="{4F8EDBA9-787D-F974-B4AA-B7BE69B83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554" y="99167"/>
            <a:ext cx="671936" cy="659400"/>
          </a:xfrm>
          <a:prstGeom prst="rect">
            <a:avLst/>
          </a:prstGeom>
        </p:spPr>
      </p:pic>
      <p:pic>
        <p:nvPicPr>
          <p:cNvPr id="9" name="Picture 8" descr="Delhi Technological University - Wikipedia">
            <a:extLst>
              <a:ext uri="{FF2B5EF4-FFF2-40B4-BE49-F238E27FC236}">
                <a16:creationId xmlns:a16="http://schemas.microsoft.com/office/drawing/2014/main" id="{E158E10A-4263-F823-8FC2-FEB7B4289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65465"/>
            <a:ext cx="634713" cy="6325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DA9026-D382-D029-6337-680A70A1B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358" y="14758"/>
            <a:ext cx="1561039" cy="7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99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88</Words>
  <Application>Microsoft Office PowerPoint</Application>
  <PresentationFormat>Widescreen</PresentationFormat>
  <Paragraphs>23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  SEVA FIRST  Innovation Challenge 2026 </vt:lpstr>
      <vt:lpstr>TEAM DETAILS</vt:lpstr>
      <vt:lpstr>Detailed problem statement </vt:lpstr>
      <vt:lpstr>Evidence/data/survey/interviews </vt:lpstr>
      <vt:lpstr>Existing solutions and limitations </vt:lpstr>
      <vt:lpstr>Proposed technical solution </vt:lpstr>
      <vt:lpstr>Conceptual architecture </vt:lpstr>
      <vt:lpstr>Working principle </vt:lpstr>
      <vt:lpstr>Preliminary calculations/simulation </vt:lpstr>
      <vt:lpstr>Estimated cost </vt:lpstr>
      <vt:lpstr>Expected beneficiaries </vt:lpstr>
      <vt:lpstr>Initial development plan </vt:lpstr>
      <vt:lpstr>Evidence of user/problem interaction </vt:lpstr>
      <vt:lpstr>75-day work plan </vt:lpstr>
      <vt:lpstr>Team composition and roles </vt:lpstr>
      <vt:lpstr>Resource/facility requirements </vt:lpstr>
      <vt:lpstr>Entry and Target TRL, if any </vt:lpstr>
      <vt:lpstr>Technical drawings/calculations/simulation </vt:lpstr>
      <vt:lpstr>Literature/patent survey </vt:lpstr>
      <vt:lpstr>Laboratory/fabrication access</vt:lpstr>
      <vt:lpstr>Novelty and IPR potential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Kaustubh Ranjan Singh</dc:creator>
  <cp:lastModifiedBy>Kaustubh Ranjan Singh</cp:lastModifiedBy>
  <cp:revision>5</cp:revision>
  <dcterms:created xsi:type="dcterms:W3CDTF">2026-09-12T15:14:32Z</dcterms:created>
  <dcterms:modified xsi:type="dcterms:W3CDTF">2026-09-24T13:43:59Z</dcterms:modified>
</cp:coreProperties>
</file>